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CD49B4-36A2-53F9-797A-94190AF20ED8}" v="378" dt="2026-03-01T23:35:18.8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F8CF-692C-4963-8B5E-D1C0928CF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9612" y="1013984"/>
            <a:ext cx="7714388" cy="3260635"/>
          </a:xfrm>
        </p:spPr>
        <p:txBody>
          <a:bodyPr anchor="b"/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19655-1613-4CC0-BBE9-BD2CB2C3C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9612" y="4848464"/>
            <a:ext cx="7714388" cy="1085849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FFF-6BC4-4DF0-BC55-B2C3BFD8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70120-CDFC-48DE-A6EA-6DEEDD0E436A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9830-A1B7-484B-832C-F64A558B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8F727-72C8-47A9-8E54-AD845902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ED5540-64E5-4258-ABA4-753F07B71B38}"/>
              </a:ext>
            </a:extLst>
          </p:cNvPr>
          <p:cNvCxnSpPr>
            <a:cxnSpLocks/>
          </p:cNvCxnSpPr>
          <p:nvPr/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7979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94C-BCB1-4F4C-AF70-DD2A5C4E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9B75-A057-44B5-872F-DF01BDC8E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9238434" cy="381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260C-3219-4812-88F2-3162D37F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9FAAF-C467-4C93-8ECD-39AF5A14D498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62B73-9C01-4BE3-A199-782BE6EB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1492-EB56-4454-9D2A-8BB94AAC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727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80A128-A52A-402C-865B-1BF08D7F04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00447-3778-4AB7-ACB3-7C2313FE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745" y="1287554"/>
            <a:ext cx="8284963" cy="3113064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10C9-BA3C-4D31-9C62-2C2408591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1744" y="4619707"/>
            <a:ext cx="7722256" cy="147629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42E8A-6B69-406B-A3DF-0A1B7683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7E480-B2BA-4553-A144-61E7F75833ED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65CF-4461-4BB8-8F3A-ED1CB108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8B27-5EF3-49F4-B3CE-F3CF419A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252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F3BA-5AD5-4F15-97B2-E4652D1D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13411"/>
            <a:ext cx="9238434" cy="889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97B8-1FD3-40E6-A486-256EB41DB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9566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3F4D8-AA9A-4AF7-86EA-E4D797B9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8823E-BC08-4810-9BFF-35D2EA2A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E682A-6B53-4B08-AE4D-4C5E659103CC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D2BFB-BB2C-4C4A-A6E1-DD223C2B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369B2-12F8-4583-8A7F-523C9A3E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656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717F-84B9-44BA-8DD6-680394AB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79150"/>
            <a:ext cx="9238434" cy="823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217D6-7448-4625-964F-5D82F65F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7" y="2013217"/>
            <a:ext cx="4495799" cy="704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A534C-0B54-4327-99C0-4F0019FD2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29567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D4A63-0795-4B74-8C11-5FE794411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13215"/>
            <a:ext cx="4495800" cy="70423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D16F3-F747-441B-9854-27225954D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168E2-6B97-486E-B0E4-4E7F5CDB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9F0F6-BEBB-4894-ABB2-75C5CBE0DDB9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D3E2B-2F4E-4347-A8E9-27EB7D03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FC4F5-6876-414E-9E30-84706A3F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0D2F04-5474-46B9-B838-858CDF4AB2D2}"/>
              </a:ext>
            </a:extLst>
          </p:cNvPr>
          <p:cNvCxnSpPr>
            <a:cxnSpLocks/>
          </p:cNvCxnSpPr>
          <p:nvPr/>
        </p:nvCxnSpPr>
        <p:spPr>
          <a:xfrm>
            <a:off x="6270727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EE893-BE45-47F3-BCF0-02424B3503CC}"/>
              </a:ext>
            </a:extLst>
          </p:cNvPr>
          <p:cNvSpPr/>
          <p:nvPr/>
        </p:nvSpPr>
        <p:spPr>
          <a:xfrm>
            <a:off x="-1171838" y="4592406"/>
            <a:ext cx="808262" cy="3897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5178A-4501-4B56-8BF1-D083D7B021CE}"/>
              </a:ext>
            </a:extLst>
          </p:cNvPr>
          <p:cNvCxnSpPr>
            <a:cxnSpLocks/>
          </p:cNvCxnSpPr>
          <p:nvPr/>
        </p:nvCxnSpPr>
        <p:spPr>
          <a:xfrm>
            <a:off x="1524000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2768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2109C6-041C-42BA-B507-8EA298046E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BF877-20DD-40F4-AEA8-E1B6D535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DC874-15B5-4338-B7D1-8E393AB4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E9E5F-17D9-4A30-9DA3-64E46A6DF111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6BAE3-24C5-483F-9141-D860A265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AEEB4-66F8-4008-B616-804FB9D9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443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C975-8FFB-4A4B-9213-774EE390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C5F0-3BC3-4718-BCCA-24B5655EC864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A744F-475D-4105-8E4A-02581554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FA64C-7966-4D6F-88D7-4B89F2A1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497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ED5F-AB94-4DCF-8971-B8B2B55A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40" y="1558944"/>
            <a:ext cx="3279689" cy="1864196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E4CB-68CF-4BF3-A891-8277AFD1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0"/>
            <a:ext cx="5333999" cy="5334000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92E72-B66D-40EE-B182-5585382A6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3741" y="3649682"/>
            <a:ext cx="3233096" cy="1933605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3B694-B050-45F3-AE6F-A86A129F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D81-465B-40F2-9A54-9DF3B12AF598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E423-9CA5-46B3-96B1-7586AD02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B973D-F1F7-47BC-996D-6100B7C8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875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9949-4A1F-4DA9-9B75-A6180F95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543" y="1383126"/>
            <a:ext cx="3289886" cy="2045874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8D794-C670-4569-93D9-0FF8B35AA7A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334001" y="762000"/>
            <a:ext cx="5333999" cy="5334000"/>
          </a:xfrm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486F6-AE67-4B34-B8E2-0B7576DC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3544" y="3649682"/>
            <a:ext cx="3243292" cy="1684317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B11C-BB63-49A6-B488-29D4FBF8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3CEF-64EF-4C43-9530-8E9CBFD2CAD1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B9166-6D36-4F0A-9ADD-33D49A0C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22B8F-7760-41B3-9053-DD90255B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858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A5DE-E5C6-4DB9-AD28-8F1EAC6F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E08E-9B2D-4740-9AC6-D5E1CFB95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29566" y="2229957"/>
            <a:ext cx="9238434" cy="3866043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E3736-E8AA-4F58-9D3A-27050B28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5BA7-0A17-4D30-9B66-E29324151C73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5E84-15BC-478B-9DAB-15025867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D98F-E0A8-4254-A957-7F17811D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56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E70F5-2276-4F91-9FC2-8DA4B5288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1467699"/>
            <a:ext cx="1758461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856C5-C2FD-45E4-A631-AC06B549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82312" y="1467699"/>
            <a:ext cx="7839379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36EA-B6DD-4115-9C67-79A24C86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BB1B-D40A-4DB9-B3DE-BAAE675B83CD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668B-1DAB-449C-9BA4-7B1572A2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6567E-119D-4C98-93FF-73A33280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751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4152A-7FE0-4708-B7C1-DBEC8F13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1621"/>
            <a:ext cx="9238434" cy="8613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1AB53-BAF9-439D-9451-47193CF2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6" y="2285999"/>
            <a:ext cx="9238434" cy="3810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6D9F-562A-496F-A530-A561994DC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B70A3DFD-A535-46B2-84C1-61DC8B16A904}" type="datetimeFigureOut">
              <a:rPr lang="en-US" dirty="0"/>
              <a:t>3/1/2026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60FE-AAC3-4FAE-9EB4-BCAE72D95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EDB2-8F31-42FA-B253-62D241466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1451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66344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3840">
          <p15:clr>
            <a:srgbClr val="F26B43"/>
          </p15:clr>
        </p15:guide>
        <p15:guide id="3" pos="7200">
          <p15:clr>
            <a:srgbClr val="F26B43"/>
          </p15:clr>
        </p15:guide>
        <p15:guide id="4" pos="6720">
          <p15:clr>
            <a:srgbClr val="F26B43"/>
          </p15:clr>
        </p15:guide>
        <p15:guide id="16" pos="480">
          <p15:clr>
            <a:srgbClr val="F26B43"/>
          </p15:clr>
        </p15:guide>
        <p15:guide id="23" orient="horz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Real-Time Fraud Detection &amp; AML Compliance Challenges in Global Banking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DSC650 Big Data</a:t>
            </a:r>
            <a:endParaRPr lang="en-US"/>
          </a:p>
          <a:p>
            <a:pPr>
              <a:lnSpc>
                <a:spcPct val="110000"/>
              </a:lnSpc>
            </a:pP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Mahad Farah</a:t>
            </a:r>
            <a:endParaRPr lang="en-US"/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77609-3A59-DE72-65AF-53C4908EC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6F0BC-CAEB-B6FA-49C5-AC973B642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3133363" cy="38100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The Problem</a:t>
            </a:r>
          </a:p>
          <a:p>
            <a:r>
              <a:rPr lang="en-US" sz="1600">
                <a:ea typeface="+mn-lt"/>
                <a:cs typeface="+mn-lt"/>
              </a:rPr>
              <a:t>Rising global credit card fraud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Increasing anti-money laundering (AML) risks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Billions of daily transactions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Strict global regulatory requirements</a:t>
            </a:r>
            <a:endParaRPr lang="en-US" sz="16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8B8A9-0BCF-06D5-8EE2-CA346B211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0BB29-F9D2-4655-8FAC-859953356239}" type="datetime1">
              <a:t>3/1/2026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0D76C9-A251-FEB8-E13B-DDEC7EC8F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02F62-0EA5-BD5E-16E6-C1ED23047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2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A9F8C24-EF14-3009-1A27-73D9C3D04A7B}"/>
              </a:ext>
            </a:extLst>
          </p:cNvPr>
          <p:cNvSpPr txBox="1">
            <a:spLocks/>
          </p:cNvSpPr>
          <p:nvPr/>
        </p:nvSpPr>
        <p:spPr>
          <a:xfrm>
            <a:off x="6045109" y="2438400"/>
            <a:ext cx="3133363" cy="3810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74320" indent="-27432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SzPct val="8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Tx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18288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66344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Tx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0080" indent="-18288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Current Challenges</a:t>
            </a:r>
          </a:p>
          <a:p>
            <a:r>
              <a:rPr lang="en-US" sz="1700">
                <a:ea typeface="+mn-lt"/>
                <a:cs typeface="+mn-lt"/>
              </a:rPr>
              <a:t>Batch-based fraud detection (not real-time)</a:t>
            </a:r>
            <a:endParaRPr lang="en-US" sz="1700"/>
          </a:p>
          <a:p>
            <a:r>
              <a:rPr lang="en-US" sz="1700">
                <a:ea typeface="+mn-lt"/>
                <a:cs typeface="+mn-lt"/>
              </a:rPr>
              <a:t>Data silos across regions and systems</a:t>
            </a:r>
            <a:endParaRPr lang="en-US" sz="1700"/>
          </a:p>
          <a:p>
            <a:r>
              <a:rPr lang="en-US" sz="1700">
                <a:ea typeface="+mn-lt"/>
                <a:cs typeface="+mn-lt"/>
              </a:rPr>
              <a:t>High false positives</a:t>
            </a:r>
            <a:endParaRPr lang="en-US" sz="1700"/>
          </a:p>
          <a:p>
            <a:r>
              <a:rPr lang="en-US" sz="1700">
                <a:ea typeface="+mn-lt"/>
                <a:cs typeface="+mn-lt"/>
              </a:rPr>
              <a:t>Delayed regulatory reporting</a:t>
            </a:r>
            <a:endParaRPr lang="en-US" sz="1700"/>
          </a:p>
          <a:p>
            <a:r>
              <a:rPr lang="en-US" sz="1700">
                <a:ea typeface="+mn-lt"/>
                <a:cs typeface="+mn-lt"/>
              </a:rPr>
              <a:t>Limited behavioral anomaly detection</a:t>
            </a: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4069849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CA93F-7FE6-C0B2-ECB4-FD06F8927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Proposed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C065E-69C5-7548-4253-0058C5717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09" y="2304143"/>
            <a:ext cx="2199007" cy="38100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Data Sources</a:t>
            </a:r>
            <a:endParaRPr lang="en-US" dirty="0"/>
          </a:p>
          <a:p>
            <a:r>
              <a:rPr lang="en-US" sz="1600">
                <a:ea typeface="+mn-lt"/>
                <a:cs typeface="+mn-lt"/>
              </a:rPr>
              <a:t>Credit Card Transactions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ATM Activity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Online &amp; Mobile Banking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Cross-border transfers</a:t>
            </a:r>
            <a:endParaRPr lang="en-US" sz="16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2C1C01-C768-9AFD-145D-452E4E258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3B3C7-8D26-416C-85CA-559F7E06297A}" type="datetime1">
              <a:t>3/1/2026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0DC80-E7FA-D1C2-A485-ACD8ED893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94003-1318-264B-0C26-B375FB4AB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3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C4E5EF2-CFDE-67BF-E8AB-1E3DB3C1536F}"/>
              </a:ext>
            </a:extLst>
          </p:cNvPr>
          <p:cNvSpPr txBox="1">
            <a:spLocks/>
          </p:cNvSpPr>
          <p:nvPr/>
        </p:nvSpPr>
        <p:spPr>
          <a:xfrm>
            <a:off x="2334894" y="2302329"/>
            <a:ext cx="2407649" cy="3810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74320" indent="-27432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SzPct val="8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Tx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18288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66344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Tx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0080" indent="-18288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Data Ingestion Layer</a:t>
            </a:r>
            <a:endParaRPr lang="en-US" dirty="0"/>
          </a:p>
          <a:p>
            <a:r>
              <a:rPr lang="en-US" sz="1600" dirty="0">
                <a:ea typeface="+mn-lt"/>
                <a:cs typeface="+mn-lt"/>
              </a:rPr>
              <a:t>Apache </a:t>
            </a:r>
            <a:r>
              <a:rPr lang="en-US" sz="1600" dirty="0" err="1">
                <a:ea typeface="+mn-lt"/>
                <a:cs typeface="+mn-lt"/>
              </a:rPr>
              <a:t>NiFi</a:t>
            </a:r>
            <a:endParaRPr lang="en-US" sz="1400" dirty="0" err="1">
              <a:ea typeface="+mn-lt"/>
              <a:cs typeface="+mn-lt"/>
            </a:endParaRPr>
          </a:p>
          <a:p>
            <a:pPr marL="445770" lvl="1" indent="-1714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Secure</a:t>
            </a:r>
            <a:r>
              <a:rPr lang="en-US" sz="1400" b="0" dirty="0">
                <a:ea typeface="+mn-lt"/>
                <a:cs typeface="+mn-lt"/>
              </a:rPr>
              <a:t> </a:t>
            </a:r>
            <a:r>
              <a:rPr lang="en-US" sz="1400" b="0">
                <a:ea typeface="+mn-lt"/>
                <a:cs typeface="+mn-lt"/>
              </a:rPr>
              <a:t>ingestion</a:t>
            </a:r>
            <a:endParaRPr lang="en-US" sz="1400" b="0" dirty="0">
              <a:ea typeface="+mn-lt"/>
              <a:cs typeface="+mn-lt"/>
            </a:endParaRPr>
          </a:p>
          <a:p>
            <a:pPr marL="445770" lvl="1" indent="-1714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Routing &amp; transformation</a:t>
            </a:r>
            <a:endParaRPr lang="en-US" sz="1400" b="0"/>
          </a:p>
          <a:p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5E5E2DD-4B0F-5988-E913-3802563F7DA9}"/>
              </a:ext>
            </a:extLst>
          </p:cNvPr>
          <p:cNvSpPr txBox="1">
            <a:spLocks/>
          </p:cNvSpPr>
          <p:nvPr/>
        </p:nvSpPr>
        <p:spPr>
          <a:xfrm>
            <a:off x="4747895" y="2302329"/>
            <a:ext cx="2407649" cy="3810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74320" indent="-27432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SzPct val="8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Tx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18288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66344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Tx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0080" indent="-18288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Streaming Layer</a:t>
            </a:r>
            <a:endParaRPr lang="en-US" dirty="0"/>
          </a:p>
          <a:p>
            <a:r>
              <a:rPr lang="en-US" sz="1600">
                <a:ea typeface="+mn-lt"/>
                <a:cs typeface="+mn-lt"/>
              </a:rPr>
              <a:t>Apache Kafka</a:t>
            </a:r>
            <a:endParaRPr lang="en-US" sz="1600"/>
          </a:p>
          <a:p>
            <a:pPr marL="445770" lvl="1" indent="-171450">
              <a:buFont typeface="Arial"/>
              <a:buChar char="•"/>
            </a:pPr>
            <a:r>
              <a:rPr lang="en-US" sz="1400" b="0">
                <a:ea typeface="+mn-lt"/>
                <a:cs typeface="+mn-lt"/>
              </a:rPr>
              <a:t>Real-time transaction streaming</a:t>
            </a:r>
            <a:endParaRPr lang="en-US" sz="1400"/>
          </a:p>
          <a:p>
            <a:pPr marL="445770" lvl="1" indent="-171450">
              <a:buFont typeface="Arial"/>
              <a:buChar char="•"/>
            </a:pPr>
            <a:r>
              <a:rPr lang="en-US" sz="1400" b="0">
                <a:ea typeface="+mn-lt"/>
                <a:cs typeface="+mn-lt"/>
              </a:rPr>
              <a:t>High throughput, fault-tolerant</a:t>
            </a:r>
            <a:endParaRPr lang="en-US" sz="1400"/>
          </a:p>
          <a:p>
            <a:pPr marL="560070" lvl="1" indent="-285750">
              <a:buFont typeface="Arial"/>
              <a:buChar char="•"/>
            </a:pPr>
            <a:endParaRPr lang="en-US" b="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2FD0AA8-2791-D606-4A03-F79D505EFC0E}"/>
              </a:ext>
            </a:extLst>
          </p:cNvPr>
          <p:cNvSpPr txBox="1">
            <a:spLocks/>
          </p:cNvSpPr>
          <p:nvPr/>
        </p:nvSpPr>
        <p:spPr>
          <a:xfrm>
            <a:off x="6943180" y="2302329"/>
            <a:ext cx="2534648" cy="3810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74320" indent="-27432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SzPct val="8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Tx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18288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66344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Tx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0080" indent="-18288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Processing Layer</a:t>
            </a:r>
          </a:p>
          <a:p>
            <a:r>
              <a:rPr lang="en-US">
                <a:ea typeface="+mn-lt"/>
                <a:cs typeface="+mn-lt"/>
              </a:rPr>
              <a:t>Apache Spark Streaming (on YARN)</a:t>
            </a:r>
          </a:p>
          <a:p>
            <a:pPr marL="560070" lvl="1" indent="-285750">
              <a:buFont typeface="Arial"/>
              <a:buChar char="•"/>
            </a:pPr>
            <a:r>
              <a:rPr lang="en-US" sz="1400" b="0">
                <a:ea typeface="+mn-lt"/>
                <a:cs typeface="+mn-lt"/>
              </a:rPr>
              <a:t>Real-time fraud scoring</a:t>
            </a:r>
            <a:endParaRPr lang="en-US" sz="1400"/>
          </a:p>
          <a:p>
            <a:pPr marL="560070" lvl="1" indent="-285750">
              <a:buFont typeface="Arial"/>
              <a:buChar char="•"/>
            </a:pPr>
            <a:r>
              <a:rPr lang="en-US" sz="1400" b="0">
                <a:ea typeface="+mn-lt"/>
                <a:cs typeface="+mn-lt"/>
              </a:rPr>
              <a:t>Behavioral anomaly detection</a:t>
            </a:r>
            <a:endParaRPr lang="en-US" sz="1400"/>
          </a:p>
          <a:p>
            <a:pPr marL="560070" lvl="1" indent="-285750">
              <a:buFont typeface="Arial"/>
              <a:buChar char="•"/>
            </a:pPr>
            <a:r>
              <a:rPr lang="en-US" sz="1400" b="0">
                <a:ea typeface="+mn-lt"/>
                <a:cs typeface="+mn-lt"/>
              </a:rPr>
              <a:t>Machine learning models</a:t>
            </a:r>
            <a:endParaRPr lang="en-US" sz="1400"/>
          </a:p>
          <a:p>
            <a:pPr lvl="1"/>
            <a:endParaRPr lang="en-US" b="0" dirty="0"/>
          </a:p>
          <a:p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8733E72-E283-ECD7-859A-A07B77520E44}"/>
              </a:ext>
            </a:extLst>
          </p:cNvPr>
          <p:cNvSpPr txBox="1">
            <a:spLocks/>
          </p:cNvSpPr>
          <p:nvPr/>
        </p:nvSpPr>
        <p:spPr>
          <a:xfrm>
            <a:off x="9474109" y="2302329"/>
            <a:ext cx="2707005" cy="3810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74320" indent="-27432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SzPct val="8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Tx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18288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66344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Tx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0080" indent="-18288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900"/>
              <a:t>Storage &amp; Access Layer</a:t>
            </a:r>
          </a:p>
          <a:p>
            <a:r>
              <a:rPr lang="en-US" sz="1700"/>
              <a:t>Real-Time Access</a:t>
            </a:r>
          </a:p>
          <a:p>
            <a:pPr marL="560070" lvl="1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HBase</a:t>
            </a:r>
            <a:r>
              <a:rPr lang="en-US" sz="1400" b="0">
                <a:ea typeface="+mn-lt"/>
                <a:cs typeface="+mn-lt"/>
              </a:rPr>
              <a:t> (low-latency lookup)</a:t>
            </a:r>
            <a:endParaRPr lang="en-US" sz="1400"/>
          </a:p>
          <a:p>
            <a:pPr marL="560070" lvl="1" indent="-285750">
              <a:buFont typeface="Arial"/>
              <a:buChar char="•"/>
            </a:pPr>
            <a:r>
              <a:rPr lang="en-US" sz="1400" b="0">
                <a:ea typeface="+mn-lt"/>
                <a:cs typeface="+mn-lt"/>
              </a:rPr>
              <a:t>Fraud Alert Engine</a:t>
            </a:r>
            <a:endParaRPr lang="en-US" sz="1400"/>
          </a:p>
          <a:p>
            <a:pPr marL="560070" lvl="1" indent="-285750">
              <a:buFont typeface="Arial"/>
              <a:buChar char="•"/>
            </a:pPr>
            <a:r>
              <a:rPr lang="en-US" sz="1400" b="0">
                <a:ea typeface="+mn-lt"/>
                <a:cs typeface="+mn-lt"/>
              </a:rPr>
              <a:t>Auto Transaction Blocking</a:t>
            </a:r>
            <a:endParaRPr lang="en-US" sz="1400"/>
          </a:p>
          <a:p>
            <a:r>
              <a:rPr lang="en-US" sz="1700"/>
              <a:t>Long-Term Storage &amp; Compliance</a:t>
            </a:r>
          </a:p>
          <a:p>
            <a:pPr marL="560070" lvl="1" indent="-285750">
              <a:buFont typeface="Arial"/>
              <a:buChar char="•"/>
            </a:pPr>
            <a:r>
              <a:rPr lang="en-US" sz="1500">
                <a:ea typeface="+mn-lt"/>
                <a:cs typeface="+mn-lt"/>
              </a:rPr>
              <a:t>HDFS</a:t>
            </a:r>
            <a:r>
              <a:rPr lang="en-US" sz="1500" b="0">
                <a:ea typeface="+mn-lt"/>
                <a:cs typeface="+mn-lt"/>
              </a:rPr>
              <a:t> (data lake)</a:t>
            </a:r>
            <a:endParaRPr lang="en-US" sz="1500"/>
          </a:p>
          <a:p>
            <a:pPr marL="560070" lvl="1" indent="-285750">
              <a:buFont typeface="Arial"/>
              <a:buChar char="•"/>
            </a:pPr>
            <a:r>
              <a:rPr lang="en-US" sz="1500">
                <a:ea typeface="+mn-lt"/>
                <a:cs typeface="+mn-lt"/>
              </a:rPr>
              <a:t>Hive</a:t>
            </a:r>
            <a:r>
              <a:rPr lang="en-US" sz="1500" b="0">
                <a:ea typeface="+mn-lt"/>
                <a:cs typeface="+mn-lt"/>
              </a:rPr>
              <a:t> (regulatory reporting &amp; analytics)</a:t>
            </a:r>
            <a:endParaRPr lang="en-US" sz="1500"/>
          </a:p>
          <a:p>
            <a:pPr marL="560070" lvl="1" indent="-285750">
              <a:buFont typeface="Arial"/>
              <a:buChar char="•"/>
            </a:pPr>
            <a:r>
              <a:rPr lang="en-US" sz="1500" dirty="0" err="1">
                <a:ea typeface="+mn-lt"/>
                <a:cs typeface="+mn-lt"/>
              </a:rPr>
              <a:t>Solr</a:t>
            </a:r>
            <a:r>
              <a:rPr lang="en-US" sz="1500" b="0" dirty="0">
                <a:ea typeface="+mn-lt"/>
                <a:cs typeface="+mn-lt"/>
              </a:rPr>
              <a:t> (investigation &amp; search capability)</a:t>
            </a:r>
            <a:endParaRPr lang="en-US" sz="1500" dirty="0"/>
          </a:p>
          <a:p>
            <a:pPr lvl="1"/>
            <a:endParaRPr lang="en-US" b="0" dirty="0"/>
          </a:p>
          <a:p>
            <a:pPr lvl="1"/>
            <a:endParaRPr lang="en-US" b="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656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79603-A7BD-4306-4932-C7291FF65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ea typeface="+mj-lt"/>
                <a:cs typeface="+mj-lt"/>
              </a:rPr>
              <a:t>Benefits &amp; Conclusion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76369-2BE4-1BFA-F9FC-2EE131BCD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3723006" cy="38100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Key Benefits</a:t>
            </a:r>
            <a:endParaRPr lang="en-US"/>
          </a:p>
          <a:p>
            <a:pPr marL="285750" indent="-285750">
              <a:lnSpc>
                <a:spcPct val="100000"/>
              </a:lnSpc>
            </a:pPr>
            <a:r>
              <a:rPr lang="en-US">
                <a:ea typeface="+mn-lt"/>
                <a:cs typeface="+mn-lt"/>
              </a:rPr>
              <a:t>Real-time fraud detection</a:t>
            </a:r>
          </a:p>
          <a:p>
            <a:pPr marL="285750" indent="-285750">
              <a:lnSpc>
                <a:spcPct val="100000"/>
              </a:lnSpc>
            </a:pPr>
            <a:r>
              <a:rPr lang="en-US" dirty="0">
                <a:ea typeface="+mn-lt"/>
                <a:cs typeface="+mn-lt"/>
              </a:rPr>
              <a:t>Reduced financial loss</a:t>
            </a:r>
            <a:endParaRPr lang="en-US" dirty="0"/>
          </a:p>
          <a:p>
            <a:pPr marL="285750" indent="-285750">
              <a:lnSpc>
                <a:spcPct val="100000"/>
              </a:lnSpc>
            </a:pPr>
            <a:r>
              <a:rPr lang="en-US">
                <a:ea typeface="+mn-lt"/>
                <a:cs typeface="+mn-lt"/>
              </a:rPr>
              <a:t>Automatic high-risk blocking</a:t>
            </a:r>
            <a:endParaRPr lang="en-US"/>
          </a:p>
          <a:p>
            <a:pPr marL="285750" indent="-285750">
              <a:lnSpc>
                <a:spcPct val="100000"/>
              </a:lnSpc>
            </a:pPr>
            <a:r>
              <a:rPr lang="en-US">
                <a:ea typeface="+mn-lt"/>
                <a:cs typeface="+mn-lt"/>
              </a:rPr>
              <a:t>AML</a:t>
            </a:r>
            <a:r>
              <a:rPr lang="en-US" dirty="0">
                <a:ea typeface="+mn-lt"/>
                <a:cs typeface="+mn-lt"/>
              </a:rPr>
              <a:t> regulatory </a:t>
            </a:r>
            <a:r>
              <a:rPr lang="en-US">
                <a:ea typeface="+mn-lt"/>
                <a:cs typeface="+mn-lt"/>
              </a:rPr>
              <a:t>compliance</a:t>
            </a:r>
            <a:endParaRPr lang="en-US"/>
          </a:p>
          <a:p>
            <a:pPr marL="285750" indent="-285750">
              <a:lnSpc>
                <a:spcPct val="100000"/>
              </a:lnSpc>
            </a:pPr>
            <a:r>
              <a:rPr lang="en-US" dirty="0">
                <a:ea typeface="+mn-lt"/>
                <a:cs typeface="+mn-lt"/>
              </a:rPr>
              <a:t>Scalable global </a:t>
            </a:r>
            <a:r>
              <a:rPr lang="en-US">
                <a:ea typeface="+mn-lt"/>
                <a:cs typeface="+mn-lt"/>
              </a:rPr>
              <a:t>infrastructure</a:t>
            </a:r>
          </a:p>
          <a:p>
            <a:pPr marL="285750" indent="-285750">
              <a:lnSpc>
                <a:spcPct val="100000"/>
              </a:lnSpc>
            </a:pPr>
            <a:r>
              <a:rPr lang="en-US">
                <a:ea typeface="+mn-lt"/>
                <a:cs typeface="+mn-lt"/>
              </a:rPr>
              <a:t>High</a:t>
            </a:r>
            <a:r>
              <a:rPr lang="en-US" dirty="0">
                <a:ea typeface="+mn-lt"/>
                <a:cs typeface="+mn-lt"/>
              </a:rPr>
              <a:t> availability &amp; fault tolerance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8113A-A27E-BF9F-87DA-30F8708B8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BE086-F6B7-49DE-BF6F-C52094BB6F71}" type="datetime1">
              <a:t>3/1/2026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CDDBB-250D-E791-7402-09A2C85B5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A9D4A-7260-617C-3DB8-5D9003275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4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6D605FE-AF64-3D09-D9ED-C4DDB643D19A}"/>
              </a:ext>
            </a:extLst>
          </p:cNvPr>
          <p:cNvSpPr txBox="1">
            <a:spLocks/>
          </p:cNvSpPr>
          <p:nvPr/>
        </p:nvSpPr>
        <p:spPr>
          <a:xfrm>
            <a:off x="7042966" y="2284186"/>
            <a:ext cx="3723006" cy="3810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74320" indent="-27432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SzPct val="8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Tx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18288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66344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Tx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0080" indent="-18288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Business Impact</a:t>
            </a:r>
            <a:endParaRPr lang="en-US"/>
          </a:p>
          <a:p>
            <a:pPr marL="285750" indent="-285750">
              <a:lnSpc>
                <a:spcPct val="100000"/>
              </a:lnSpc>
            </a:pPr>
            <a:r>
              <a:rPr lang="en-US">
                <a:ea typeface="+mn-lt"/>
                <a:cs typeface="+mn-lt"/>
              </a:rPr>
              <a:t>Improved customer trust</a:t>
            </a:r>
          </a:p>
          <a:p>
            <a:pPr marL="285750" indent="-285750">
              <a:lnSpc>
                <a:spcPct val="100000"/>
              </a:lnSpc>
            </a:pPr>
            <a:r>
              <a:rPr lang="en-US"/>
              <a:t>Reduced false positives</a:t>
            </a:r>
            <a:endParaRPr lang="en-US" dirty="0"/>
          </a:p>
          <a:p>
            <a:pPr marL="285750" indent="-285750">
              <a:lnSpc>
                <a:spcPct val="100000"/>
              </a:lnSpc>
            </a:pPr>
            <a:r>
              <a:rPr lang="en-US"/>
              <a:t>Strong regulatory alignment</a:t>
            </a:r>
            <a:endParaRPr lang="en-US" dirty="0"/>
          </a:p>
          <a:p>
            <a:pPr marL="285750" indent="-285750">
              <a:lnSpc>
                <a:spcPct val="100000"/>
              </a:lnSpc>
            </a:pPr>
            <a:r>
              <a:rPr lang="en-US"/>
              <a:t>Protection of brand reputation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134709"/>
      </p:ext>
    </p:extLst>
  </p:cSld>
  <p:clrMapOvr>
    <a:masterClrMapping/>
  </p:clrMapOvr>
</p:sld>
</file>

<file path=ppt/theme/theme1.xml><?xml version="1.0" encoding="utf-8"?>
<a:theme xmlns:a="http://schemas.openxmlformats.org/drawingml/2006/main" name="PortalVTI">
  <a:themeElements>
    <a:clrScheme name="PortalVTI">
      <a:dk1>
        <a:sysClr val="windowText" lastClr="000000"/>
      </a:dk1>
      <a:lt1>
        <a:sysClr val="window" lastClr="FFFFFF"/>
      </a:lt1>
      <a:dk2>
        <a:srgbClr val="051618"/>
      </a:dk2>
      <a:lt2>
        <a:srgbClr val="E8E8DF"/>
      </a:lt2>
      <a:accent1>
        <a:srgbClr val="2D714C"/>
      </a:accent1>
      <a:accent2>
        <a:srgbClr val="1F7985"/>
      </a:accent2>
      <a:accent3>
        <a:srgbClr val="0D6756"/>
      </a:accent3>
      <a:accent4>
        <a:srgbClr val="40945E"/>
      </a:accent4>
      <a:accent5>
        <a:srgbClr val="389896"/>
      </a:accent5>
      <a:accent6>
        <a:srgbClr val="64924A"/>
      </a:accent6>
      <a:hlink>
        <a:srgbClr val="1F855C"/>
      </a:hlink>
      <a:folHlink>
        <a:srgbClr val="227390"/>
      </a:folHlink>
    </a:clrScheme>
    <a:fontScheme name="PortalVTI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Portal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rtalVTI" id="{E3A4BB4D-5227-4A6D-99D3-DBAB0FE4C68F}" vid="{BE515EFD-5A7A-4BFE-BE06-A21DB8499C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PortalVTI</vt:lpstr>
      <vt:lpstr>Real-Time Fraud Detection &amp; AML Compliance Challenges in Global Banking</vt:lpstr>
      <vt:lpstr>Problem Statement</vt:lpstr>
      <vt:lpstr>Proposed Architecture</vt:lpstr>
      <vt:lpstr>Benefits &amp; 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133</cp:revision>
  <dcterms:created xsi:type="dcterms:W3CDTF">2026-03-01T22:05:30Z</dcterms:created>
  <dcterms:modified xsi:type="dcterms:W3CDTF">2026-03-02T03:43:35Z</dcterms:modified>
</cp:coreProperties>
</file>